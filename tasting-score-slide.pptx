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7B1E3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Fairer scoring of tasting notes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04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</a:rPr>
              <a:t>Champagne tasting, 13 May 2026</a:t>
            </a:r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</a:rPr>
              <a:t>   ·   Champagne Aubry Premier Cru Brut   ·   aroma (lukt)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635240" y="868680"/>
            <a:ext cx="4050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6B6B6B"/>
                </a:solidFill>
              </a:rPr>
              <a:t>SAME WINE · SAME OFFICIAL NOTE · ONLY THE TASTER DIFFERS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6903720" cy="676656"/>
          </a:xfrm>
          <a:prstGeom prst="rect">
            <a:avLst/>
          </a:prstGeom>
          <a:solidFill>
            <a:srgbClr val="FAF7F4"/>
          </a:solidFill>
          <a:ln w="12700">
            <a:solidFill>
              <a:srgbClr val="DDD6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6B6B"/>
                </a:solidFill>
              </a:rPr>
              <a:t>WHAT VINMONOPOLET WROTE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58368" y="1426464"/>
            <a:ext cx="6583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“Litt utviklet og mineralsk, preg av gule epler, steinfrukt, kjeks, litt sitrus, røde bær og flint.”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690372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21408"/>
            <a:ext cx="50292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20370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Taster 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2E7D32"/>
                </a:solidFill>
              </a:rPr>
              <a:t>REWARDED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04088" y="24505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“Rødt eple sitrus mineralsk”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" y="2834640"/>
            <a:ext cx="77724" cy="777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" y="277977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eple — named in the wine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" y="3031236"/>
            <a:ext cx="77724" cy="777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905256" y="297637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sitrus — named in the wine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0664" y="3227832"/>
            <a:ext cx="77724" cy="777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" y="317296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mineral — named in the wine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94960" y="243230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B6B"/>
                </a:solidFill>
              </a:rPr>
              <a:t>BEFORE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94960" y="2578608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81344" y="26334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</a:rPr>
              <a:t>→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243230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E7D32"/>
                </a:solidFill>
              </a:rPr>
              <a:t>NOW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583680" y="257860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40680" y="303580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</a:rPr>
              <a:t>+22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602736"/>
            <a:ext cx="6903720" cy="1536192"/>
          </a:xfrm>
          <a:prstGeom prst="rect">
            <a:avLst/>
          </a:prstGeom>
          <a:solidFill>
            <a:srgbClr val="FFFFFF"/>
          </a:solidFill>
          <a:ln w="15875">
            <a:solidFill>
              <a:srgbClr val="DDD6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602736"/>
            <a:ext cx="50292" cy="15361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36850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B2B"/>
                </a:solidFill>
              </a:rPr>
              <a:t>Taster 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370332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C62828"/>
                </a:solidFill>
              </a:rPr>
              <a:t>CORRECTED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4088" y="39319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“Mineral. Frukt. Nøtt. Krydder”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0664" y="4315968"/>
            <a:ext cx="77724" cy="7772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905256" y="426110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mineral — named in the wine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0664" y="4512564"/>
            <a:ext cx="77724" cy="77724"/>
          </a:xfrm>
          <a:prstGeom prst="ellipse">
            <a:avLst/>
          </a:prstGeom>
          <a:solidFill>
            <a:srgbClr val="B26A00"/>
          </a:solidFill>
          <a:ln/>
        </p:spPr>
      </p:sp>
      <p:sp>
        <p:nvSpPr>
          <p:cNvPr id="34" name="Text 32"/>
          <p:cNvSpPr/>
          <p:nvPr/>
        </p:nvSpPr>
        <p:spPr>
          <a:xfrm>
            <a:off x="905256" y="445770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</a:rPr>
              <a:t>frukt — right family, but vague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0664" y="4709160"/>
            <a:ext cx="77724" cy="77724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6" name="Text 34"/>
          <p:cNvSpPr/>
          <p:nvPr/>
        </p:nvSpPr>
        <p:spPr>
          <a:xfrm>
            <a:off x="905256" y="465429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</a:rPr>
              <a:t>nøtt — not in this wine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0664" y="4905756"/>
            <a:ext cx="77724" cy="77724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" y="485089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</a:rPr>
              <a:t>krydder — not in this wine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3913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B6B"/>
                </a:solidFill>
              </a:rPr>
              <a:t>BEFORE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394960" y="4059936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181344" y="4114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</a:rPr>
              <a:t>→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583680" y="3913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62828"/>
                </a:solidFill>
              </a:rPr>
              <a:t>NOW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583680" y="405993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440680" y="451713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</a:rPr>
              <a:t>-28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1208" y="1901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</a:rPr>
              <a:t>Tasters are now credited for the aromas they name. Aromas they leave out are ignored, and vague or wrong guesses cost them.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35240" y="1207008"/>
            <a:ext cx="4050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8860B"/>
                </a:solidFill>
              </a:rPr>
              <a:t>AND: WINE SEARCH, SIDE BY SIDE</a:t>
            </a:r>
            <a:endParaRPr lang="en-US" sz="85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635240" y="1481328"/>
            <a:ext cx="4050792" cy="2278571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7635240" y="3803904"/>
            <a:ext cx="4050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B6B"/>
                </a:solidFill>
              </a:rPr>
              <a:t>Click to play · 37 seconds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9418320" y="404164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B1E3A"/>
                </a:solidFill>
              </a:rPr>
              <a:t>Smak Vin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10424160" y="404164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6B"/>
                </a:solidFill>
              </a:rPr>
              <a:t>vinmonopolet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635240" y="4215384"/>
            <a:ext cx="4050792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635240" y="4261104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andre clouet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9418320" y="426110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173 ms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10424160" y="426110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</a:rPr>
              <a:t>441 ms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7635240" y="4489704"/>
            <a:ext cx="4050792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635240" y="4535424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andre clouett  (typo)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418320" y="453542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204 ms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10424160" y="45354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62828"/>
                </a:solidFill>
              </a:rPr>
              <a:t>no results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7635240" y="4764024"/>
            <a:ext cx="4050792" cy="0"/>
          </a:xfrm>
          <a:prstGeom prst="line">
            <a:avLst/>
          </a:prstGeom>
          <a:noFill/>
          <a:ln w="9525">
            <a:solidFill>
              <a:srgbClr val="DDD6D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635240" y="4809744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</a:rPr>
              <a:t>10902101  (product id)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9418320" y="4809744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32"/>
                </a:solidFill>
              </a:rPr>
              <a:t>127 ms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10424160" y="48097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62828"/>
                </a:solidFill>
              </a:rPr>
              <a:t>no results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7635240" y="5102352"/>
            <a:ext cx="40507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</a:rPr>
              <a:t>Our page runs on a local server; theirs is the live site. Both search over the internet.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502920" y="6108192"/>
            <a:ext cx="11183112" cy="530352"/>
          </a:xfrm>
          <a:prstGeom prst="rect">
            <a:avLst/>
          </a:prstGeom>
          <a:solidFill>
            <a:srgbClr val="7B1E3A"/>
          </a:solidFill>
          <a:ln/>
        </p:spPr>
      </p:sp>
      <p:sp>
        <p:nvSpPr>
          <p:cNvPr id="65" name="Text 62"/>
          <p:cNvSpPr/>
          <p:nvPr/>
        </p:nvSpPr>
        <p:spPr>
          <a:xfrm>
            <a:off x="777240" y="618134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 score ranked these backwards.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Taster B's vaguer note scored higher (83 vs 71).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the accurate note wins, 93 to 55.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521208" y="5248656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6B6B"/>
                </a:solidFill>
              </a:rPr>
              <a:t>Also new: “brioche” now counts — the official taste note says “bakverk”, and both come from ageing on the lees. That note went 72 → 93.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Fairer scoring of tasting notes</dc:title>
  <dc:subject>PptxGenJS Presentation</dc:subject>
  <dc:creator>Smak Vin</dc:creator>
  <cp:lastModifiedBy>Smak Vin</cp:lastModifiedBy>
  <cp:revision>1</cp:revision>
  <dcterms:created xsi:type="dcterms:W3CDTF">2026-08-28T12:21:18Z</dcterms:created>
  <dcterms:modified xsi:type="dcterms:W3CDTF">2026-08-28T12:21:18Z</dcterms:modified>
</cp:coreProperties>
</file>