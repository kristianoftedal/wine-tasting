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B1E3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wine search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From keystroke to results, across 50 057 wines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8860B"/>
                </a:solidFill>
              </a:rPr>
              <a:t>WHAT HAPPENS WHEN YOU TYPE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591056"/>
            <a:ext cx="274320" cy="274320"/>
          </a:xfrm>
          <a:prstGeom prst="ellipse">
            <a:avLst/>
          </a:prstGeom>
          <a:solidFill>
            <a:srgbClr val="7B1E3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1848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" y="1572768"/>
            <a:ext cx="4142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</a:rPr>
              <a:t>You type at least three letters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" y="1819656"/>
            <a:ext cx="4142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</a:rPr>
              <a:t>The index stores names in three-letter chunks, so it cannot help with one or two. “an” would match thousands of wines anyway.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1883664"/>
            <a:ext cx="0" cy="530352"/>
          </a:xfrm>
          <a:prstGeom prst="line">
            <a:avLst/>
          </a:prstGeom>
          <a:noFill/>
          <a:ln w="15875">
            <a:solidFill>
              <a:srgbClr val="DDD6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432304"/>
            <a:ext cx="274320" cy="274320"/>
          </a:xfrm>
          <a:prstGeom prst="ellipse">
            <a:avLst/>
          </a:prstGeom>
          <a:solidFill>
            <a:srgbClr val="7B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5973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6968" y="2414016"/>
            <a:ext cx="4142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</a:rPr>
              <a:t>Your text is simplified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86968" y="2660904"/>
            <a:ext cx="4142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</a:rPr>
              <a:t>André becomes andre, Tårnhuset becomes tarnhuset, punctuation is dropped. Every wine name is stored the same way, so the two always meet.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2724912"/>
            <a:ext cx="0" cy="530352"/>
          </a:xfrm>
          <a:prstGeom prst="line">
            <a:avLst/>
          </a:prstGeom>
          <a:noFill/>
          <a:ln w="15875">
            <a:solidFill>
              <a:srgbClr val="DDD6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273552"/>
            <a:ext cx="274320" cy="274320"/>
          </a:xfrm>
          <a:prstGeom prst="ellipse">
            <a:avLst/>
          </a:prstGeom>
          <a:solidFill>
            <a:srgbClr val="7B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30098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6968" y="3255264"/>
            <a:ext cx="4142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</a:rPr>
              <a:t>Nine questions are asked at once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86968" y="3502152"/>
            <a:ext cx="4142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</a:rPr>
              <a:t>Each one is a different way a wine could match — from “is this a product number?” down to “is this a near-miss?”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566160"/>
            <a:ext cx="0" cy="530352"/>
          </a:xfrm>
          <a:prstGeom prst="line">
            <a:avLst/>
          </a:prstGeom>
          <a:noFill/>
          <a:ln w="15875">
            <a:solidFill>
              <a:srgbClr val="DDD6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114800"/>
            <a:ext cx="274320" cy="274320"/>
          </a:xfrm>
          <a:prstGeom prst="ellipse">
            <a:avLst/>
          </a:prstGeom>
          <a:solidFill>
            <a:srgbClr val="7B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1422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" y="4096512"/>
            <a:ext cx="4142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</a:rPr>
              <a:t>The best answer wins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86968" y="4343400"/>
            <a:ext cx="4142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</a:rPr>
              <a:t>A wine found by several questions keeps its highest score. Equal scores are broken by the shorter name, which is the closer match.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4407408"/>
            <a:ext cx="0" cy="530352"/>
          </a:xfrm>
          <a:prstGeom prst="line">
            <a:avLst/>
          </a:prstGeom>
          <a:noFill/>
          <a:ln w="15875">
            <a:solidFill>
              <a:srgbClr val="DDD6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956048"/>
            <a:ext cx="274320" cy="274320"/>
          </a:xfrm>
          <a:prstGeom prst="ellipse">
            <a:avLst/>
          </a:prstGeom>
          <a:solidFill>
            <a:srgbClr val="7B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983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6968" y="4937760"/>
            <a:ext cx="4142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</a:rPr>
              <a:t>Duplicates dropped, 20 sent back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86968" y="5184648"/>
            <a:ext cx="4142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</a:rPr>
              <a:t>Your browser remembers recent searches, so deleting a letter is instant and costs nothing.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49240" y="1234440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8860B"/>
                </a:solidFill>
              </a:rPr>
              <a:t>HOW RESULTS ARE PUT IN ORDER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49240" y="1536192"/>
            <a:ext cx="6336792" cy="4133088"/>
          </a:xfrm>
          <a:prstGeom prst="rect">
            <a:avLst/>
          </a:prstGeom>
          <a:solidFill>
            <a:srgbClr val="FAF7F4"/>
          </a:solidFill>
          <a:ln w="12700">
            <a:solidFill>
              <a:srgbClr val="DDD6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95544" y="1664208"/>
            <a:ext cx="566928" cy="283464"/>
          </a:xfrm>
          <a:prstGeom prst="roundRect">
            <a:avLst>
              <a:gd name="adj" fmla="val 16129"/>
            </a:avLst>
          </a:prstGeom>
          <a:solidFill>
            <a:srgbClr val="7B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5495544" y="1700784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1.00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90488" y="16733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It is a product number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235440" y="169164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</a:rPr>
              <a:t>10902101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95544" y="1993392"/>
            <a:ext cx="6044184" cy="0"/>
          </a:xfrm>
          <a:prstGeom prst="line">
            <a:avLst/>
          </a:prstGeom>
          <a:noFill/>
          <a:ln w="9525">
            <a:solidFill>
              <a:srgbClr val="DDD6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95544" y="2103120"/>
            <a:ext cx="566928" cy="283464"/>
          </a:xfrm>
          <a:prstGeom prst="roundRect">
            <a:avLst>
              <a:gd name="adj" fmla="val 16129"/>
            </a:avLst>
          </a:prstGeom>
          <a:solidFill>
            <a:srgbClr val="7B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5495544" y="2139696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0.98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90488" y="21122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The whole name, exactly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235440" y="213055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</a:rPr>
              <a:t>andré clouet rosé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95544" y="2432304"/>
            <a:ext cx="6044184" cy="0"/>
          </a:xfrm>
          <a:prstGeom prst="line">
            <a:avLst/>
          </a:prstGeom>
          <a:noFill/>
          <a:ln w="9525">
            <a:solidFill>
              <a:srgbClr val="DDD6D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95544" y="2542032"/>
            <a:ext cx="566928" cy="283464"/>
          </a:xfrm>
          <a:prstGeom prst="roundRect">
            <a:avLst>
              <a:gd name="adj" fmla="val 16129"/>
            </a:avLst>
          </a:prstGeom>
          <a:solidFill>
            <a:srgbClr val="7B1E3A"/>
          </a:solidFill>
          <a:ln/>
        </p:spPr>
      </p:sp>
      <p:sp>
        <p:nvSpPr>
          <p:cNvPr id="43" name="Text 41"/>
          <p:cNvSpPr/>
          <p:nvPr/>
        </p:nvSpPr>
        <p:spPr>
          <a:xfrm>
            <a:off x="5495544" y="2578608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0.92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90488" y="255117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The name starts with what you typed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9235440" y="25694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</a:rPr>
              <a:t>andre clo…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95544" y="2871216"/>
            <a:ext cx="6044184" cy="0"/>
          </a:xfrm>
          <a:prstGeom prst="line">
            <a:avLst/>
          </a:prstGeom>
          <a:noFill/>
          <a:ln w="9525">
            <a:solidFill>
              <a:srgbClr val="DDD6D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95544" y="2980944"/>
            <a:ext cx="566928" cy="283464"/>
          </a:xfrm>
          <a:prstGeom prst="roundRect">
            <a:avLst>
              <a:gd name="adj" fmla="val 16129"/>
            </a:avLst>
          </a:prstGeom>
          <a:solidFill>
            <a:srgbClr val="7B1E3A"/>
          </a:solidFill>
          <a:ln/>
        </p:spPr>
      </p:sp>
      <p:sp>
        <p:nvSpPr>
          <p:cNvPr id="48" name="Text 46"/>
          <p:cNvSpPr/>
          <p:nvPr/>
        </p:nvSpPr>
        <p:spPr>
          <a:xfrm>
            <a:off x="5495544" y="301752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0.85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90488" y="299008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You typed the start of a word in it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9235440" y="300837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</a:rPr>
              <a:t>clouet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495544" y="3310128"/>
            <a:ext cx="6044184" cy="0"/>
          </a:xfrm>
          <a:prstGeom prst="line">
            <a:avLst/>
          </a:prstGeom>
          <a:noFill/>
          <a:ln w="9525">
            <a:solidFill>
              <a:srgbClr val="DDD6D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95544" y="3419856"/>
            <a:ext cx="566928" cy="283464"/>
          </a:xfrm>
          <a:prstGeom prst="roundRect">
            <a:avLst>
              <a:gd name="adj" fmla="val 16129"/>
            </a:avLst>
          </a:prstGeom>
          <a:solidFill>
            <a:srgbClr val="9A6070"/>
          </a:solidFill>
          <a:ln/>
        </p:spPr>
      </p:sp>
      <p:sp>
        <p:nvSpPr>
          <p:cNvPr id="53" name="Text 51"/>
          <p:cNvSpPr/>
          <p:nvPr/>
        </p:nvSpPr>
        <p:spPr>
          <a:xfrm>
            <a:off x="5495544" y="345643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0.80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190488" y="34290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All your words, in any order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9235440" y="344728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</a:rPr>
              <a:t>clouet andre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495544" y="3749040"/>
            <a:ext cx="6044184" cy="0"/>
          </a:xfrm>
          <a:prstGeom prst="line">
            <a:avLst/>
          </a:prstGeom>
          <a:noFill/>
          <a:ln w="9525">
            <a:solidFill>
              <a:srgbClr val="DDD6D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95544" y="3858768"/>
            <a:ext cx="566928" cy="283464"/>
          </a:xfrm>
          <a:prstGeom prst="roundRect">
            <a:avLst>
              <a:gd name="adj" fmla="val 16129"/>
            </a:avLst>
          </a:prstGeom>
          <a:solidFill>
            <a:srgbClr val="9A6070"/>
          </a:solidFill>
          <a:ln/>
        </p:spPr>
      </p:sp>
      <p:sp>
        <p:nvSpPr>
          <p:cNvPr id="58" name="Text 56"/>
          <p:cNvSpPr/>
          <p:nvPr/>
        </p:nvSpPr>
        <p:spPr>
          <a:xfrm>
            <a:off x="5495544" y="3895344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0.75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190488" y="386791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Your text appears somewhere in it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9235440" y="388620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</a:rPr>
              <a:t>louet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495544" y="4187952"/>
            <a:ext cx="6044184" cy="0"/>
          </a:xfrm>
          <a:prstGeom prst="line">
            <a:avLst/>
          </a:prstGeom>
          <a:noFill/>
          <a:ln w="9525">
            <a:solidFill>
              <a:srgbClr val="DDD6D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95544" y="4297680"/>
            <a:ext cx="566928" cy="283464"/>
          </a:xfrm>
          <a:prstGeom prst="roundRect">
            <a:avLst>
              <a:gd name="adj" fmla="val 16129"/>
            </a:avLst>
          </a:prstGeom>
          <a:solidFill>
            <a:srgbClr val="9A9A9A"/>
          </a:solidFill>
          <a:ln/>
        </p:spPr>
      </p:sp>
      <p:sp>
        <p:nvSpPr>
          <p:cNvPr id="63" name="Text 61"/>
          <p:cNvSpPr/>
          <p:nvPr/>
        </p:nvSpPr>
        <p:spPr>
          <a:xfrm>
            <a:off x="5495544" y="4334256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0.60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190488" y="430682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Close, but misspelled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9235440" y="43251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</a:rPr>
              <a:t>andre clouett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495544" y="4626864"/>
            <a:ext cx="6044184" cy="0"/>
          </a:xfrm>
          <a:prstGeom prst="line">
            <a:avLst/>
          </a:prstGeom>
          <a:noFill/>
          <a:ln w="9525">
            <a:solidFill>
              <a:srgbClr val="DDD6D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95544" y="4736592"/>
            <a:ext cx="566928" cy="283464"/>
          </a:xfrm>
          <a:prstGeom prst="roundRect">
            <a:avLst>
              <a:gd name="adj" fmla="val 16129"/>
            </a:avLst>
          </a:prstGeom>
          <a:solidFill>
            <a:srgbClr val="9A9A9A"/>
          </a:solidFill>
          <a:ln/>
        </p:spPr>
      </p:sp>
      <p:sp>
        <p:nvSpPr>
          <p:cNvPr id="68" name="Text 66"/>
          <p:cNvSpPr/>
          <p:nvPr/>
        </p:nvSpPr>
        <p:spPr>
          <a:xfrm>
            <a:off x="5495544" y="4773168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0.50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190488" y="474573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Producer, region, or grape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9235440" y="47640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</a:rPr>
              <a:t>champagne · nebbiolo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495544" y="5065776"/>
            <a:ext cx="6044184" cy="0"/>
          </a:xfrm>
          <a:prstGeom prst="line">
            <a:avLst/>
          </a:prstGeom>
          <a:noFill/>
          <a:ln w="9525">
            <a:solidFill>
              <a:srgbClr val="DDD6D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95544" y="5175504"/>
            <a:ext cx="566928" cy="283464"/>
          </a:xfrm>
          <a:prstGeom prst="roundRect">
            <a:avLst>
              <a:gd name="adj" fmla="val 16129"/>
            </a:avLst>
          </a:prstGeom>
          <a:solidFill>
            <a:srgbClr val="9A9A9A"/>
          </a:solidFill>
          <a:ln/>
        </p:spPr>
      </p:sp>
      <p:sp>
        <p:nvSpPr>
          <p:cNvPr id="73" name="Text 71"/>
          <p:cNvSpPr/>
          <p:nvPr/>
        </p:nvSpPr>
        <p:spPr>
          <a:xfrm>
            <a:off x="5495544" y="521208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0.40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190488" y="51846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Close on one of those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9235440" y="52029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</a:rPr>
              <a:t>burgund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349240" y="5705856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</a:rPr>
              <a:t>Every wine is checked against all nine at the same time; it keeps the highest score it earns.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02920" y="6053328"/>
            <a:ext cx="11183112" cy="603504"/>
          </a:xfrm>
          <a:prstGeom prst="rect">
            <a:avLst/>
          </a:prstGeom>
          <a:solidFill>
            <a:srgbClr val="7B1E3A"/>
          </a:solidFill>
          <a:ln/>
        </p:spPr>
      </p:sp>
      <p:sp>
        <p:nvSpPr>
          <p:cNvPr id="78" name="Text 76"/>
          <p:cNvSpPr/>
          <p:nvPr/>
        </p:nvSpPr>
        <p:spPr>
          <a:xfrm>
            <a:off x="731520" y="614476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50 057</a:t>
            </a:r>
            <a:endParaRPr lang="en-US" sz="1700" dirty="0"/>
          </a:p>
        </p:txBody>
      </p:sp>
      <p:sp>
        <p:nvSpPr>
          <p:cNvPr id="79" name="Text 77"/>
          <p:cNvSpPr/>
          <p:nvPr/>
        </p:nvSpPr>
        <p:spPr>
          <a:xfrm>
            <a:off x="1938528" y="620877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6DC"/>
                </a:solidFill>
              </a:rPr>
              <a:t>wines searched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3456432" y="614476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5,5 ms</a:t>
            </a:r>
            <a:endParaRPr lang="en-US" sz="1700" dirty="0"/>
          </a:p>
        </p:txBody>
      </p:sp>
      <p:sp>
        <p:nvSpPr>
          <p:cNvPr id="81" name="Text 79"/>
          <p:cNvSpPr/>
          <p:nvPr/>
        </p:nvSpPr>
        <p:spPr>
          <a:xfrm>
            <a:off x="4663440" y="620877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6DC"/>
                </a:solidFill>
              </a:rPr>
              <a:t>typical database time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6181344" y="614476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173 ms</a:t>
            </a:r>
            <a:endParaRPr lang="en-US" sz="1700" dirty="0"/>
          </a:p>
        </p:txBody>
      </p:sp>
      <p:sp>
        <p:nvSpPr>
          <p:cNvPr id="83" name="Text 81"/>
          <p:cNvSpPr/>
          <p:nvPr/>
        </p:nvSpPr>
        <p:spPr>
          <a:xfrm>
            <a:off x="7388352" y="620877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6DC"/>
                </a:solidFill>
              </a:rPr>
              <a:t>keystroke to results on screen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8906256" y="614476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441 ms</a:t>
            </a:r>
            <a:endParaRPr lang="en-US" sz="1700" dirty="0"/>
          </a:p>
        </p:txBody>
      </p:sp>
      <p:sp>
        <p:nvSpPr>
          <p:cNvPr id="85" name="Text 83"/>
          <p:cNvSpPr/>
          <p:nvPr/>
        </p:nvSpPr>
        <p:spPr>
          <a:xfrm>
            <a:off x="10113264" y="620877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6DC"/>
                </a:solidFill>
              </a:rPr>
              <a:t>vinmonopolet.no, same search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521208" y="6638544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9A9A"/>
                </a:solidFill>
              </a:rPr>
              <a:t>The messy source text — “37,5 cl”, “Kr 1 224,90”, accents — is tidied once when a wine is imported, not on every search. That is what makes it quick.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wine search works</dc:title>
  <dc:subject>PptxGenJS Presentation</dc:subject>
  <dc:creator>Smak Vin</dc:creator>
  <cp:lastModifiedBy>Smak Vin</cp:lastModifiedBy>
  <cp:revision>1</cp:revision>
  <dcterms:created xsi:type="dcterms:W3CDTF">2026-08-29T12:07:16Z</dcterms:created>
  <dcterms:modified xsi:type="dcterms:W3CDTF">2026-08-29T12:07:16Z</dcterms:modified>
</cp:coreProperties>
</file>